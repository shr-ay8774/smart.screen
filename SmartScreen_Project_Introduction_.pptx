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960120"/>
            <a:ext cx="7168950" cy="33034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5A489"/>
                </a:solidFill>
                <a:latin typeface="Georgia"/>
              </a:defRPr>
            </a:pPr>
            <a:r>
              <a:rPr dirty="0"/>
              <a:t>SMARTSCREEN®</a:t>
            </a:r>
          </a:p>
          <a:p>
            <a:pPr>
              <a:spcBef>
                <a:spcPts val="1600"/>
              </a:spcBef>
              <a:defRPr sz="4900">
                <a:solidFill>
                  <a:srgbClr val="FFFFFF"/>
                </a:solidFill>
                <a:latin typeface="Georgia"/>
              </a:defRPr>
            </a:pPr>
            <a:r>
              <a:rPr dirty="0"/>
              <a:t>Smart Resume Screening</a:t>
            </a:r>
            <a:br>
              <a:rPr dirty="0"/>
            </a:br>
            <a:r>
              <a:rPr dirty="0"/>
              <a:t>&amp; Candidate Ranking</a:t>
            </a:r>
          </a:p>
          <a:p>
            <a:pPr>
              <a:spcBef>
                <a:spcPts val="2400"/>
              </a:spcBef>
              <a:defRPr sz="1500">
                <a:solidFill>
                  <a:srgbClr val="CDCDD0"/>
                </a:solidFill>
                <a:latin typeface="Aptos"/>
              </a:defRPr>
            </a:pPr>
            <a:r>
              <a:rPr dirty="0"/>
              <a:t>NLP  /  Explainable Ranking  /  RAG  /  Generative AI</a:t>
            </a:r>
            <a:endParaRPr lang="en-IN" dirty="0"/>
          </a:p>
          <a:p>
            <a:pPr>
              <a:spcBef>
                <a:spcPts val="4000"/>
              </a:spcBef>
              <a:defRPr sz="1200">
                <a:solidFill>
                  <a:srgbClr val="9B9BA0"/>
                </a:solidFill>
                <a:latin typeface="Aptos"/>
              </a:defRPr>
            </a:pPr>
            <a:r>
              <a:rPr lang="en-IN" dirty="0"/>
              <a:t>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1908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4B4B4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384048"/>
            <a:ext cx="502920" cy="32004"/>
          </a:xfrm>
          <a:prstGeom prst="rect">
            <a:avLst/>
          </a:prstGeom>
          <a:solidFill>
            <a:srgbClr val="B5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5A489"/>
                </a:solidFill>
                <a:latin typeface="Aptos"/>
              </a:defRPr>
            </a:pPr>
            <a:r>
              <a:t>01 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141416"/>
                </a:solidFill>
                <a:latin typeface="Georgia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41416"/>
                </a:solidFill>
                <a:latin typeface="Aptos"/>
              </a:defRPr>
            </a:pPr>
            <a:r>
              <a:t>Resume screening becomes difficult when many candidates must be compared against the same role.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83080"/>
            <a:ext cx="233172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01968" y="1965960"/>
            <a:ext cx="192938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t>01  Input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t>Job description + multiple PDF/DOCX resumes.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783080"/>
            <a:ext cx="233172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62288" y="1965960"/>
            <a:ext cx="192938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t>02  Process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t>Extract, compare, rank and retrieve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977639"/>
            <a:ext cx="233172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4160520"/>
            <a:ext cx="192938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t>03  Output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t>Candidate scores, skills and supporting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977639"/>
            <a:ext cx="233172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62288" y="4160520"/>
            <a:ext cx="192938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t>04  AI layer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t>RAG-assisted explanations and interview support.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461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9696C"/>
                </a:solidFill>
                <a:latin typeface="Aptos"/>
              </a:defRPr>
            </a:pPr>
            <a:r>
              <a:t>The goal is not to replace human hiring decisions, but to make the first-pass review faster and easier to inspect.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1908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696C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384048"/>
            <a:ext cx="502920" cy="32004"/>
          </a:xfrm>
          <a:prstGeom prst="rect">
            <a:avLst/>
          </a:prstGeom>
          <a:solidFill>
            <a:srgbClr val="B5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5A489"/>
                </a:solidFill>
                <a:latin typeface="Aptos"/>
              </a:defRPr>
            </a:pPr>
            <a:r>
              <a:t>02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Georgia"/>
              </a:defRPr>
            </a:pPr>
            <a: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166360" cy="1737360"/>
          </a:xfrm>
          <a:prstGeom prst="roundRect">
            <a:avLst/>
          </a:prstGeom>
          <a:solidFill>
            <a:srgbClr val="1F1F24"/>
          </a:solidFill>
          <a:ln w="10160">
            <a:solidFill>
              <a:srgbClr val="3C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965960"/>
            <a:ext cx="4764024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Georgia"/>
              </a:defRPr>
            </a:pPr>
            <a:r>
              <a:t>01  Too much manual comparison</a:t>
            </a:r>
          </a:p>
          <a:p>
            <a:pPr>
              <a:spcBef>
                <a:spcPts val="900"/>
              </a:spcBef>
              <a:defRPr sz="1250">
                <a:solidFill>
                  <a:srgbClr val="C8C8CC"/>
                </a:solidFill>
                <a:latin typeface="Aptos"/>
              </a:defRPr>
            </a:pPr>
            <a:r>
              <a:t>Reviewing multiple resumes against one job description is repetitive.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166360" cy="1737360"/>
          </a:xfrm>
          <a:prstGeom prst="roundRect">
            <a:avLst/>
          </a:prstGeom>
          <a:solidFill>
            <a:srgbClr val="1F1F24"/>
          </a:solidFill>
          <a:ln w="10160">
            <a:solidFill>
              <a:srgbClr val="3C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19088" y="1965960"/>
            <a:ext cx="4764024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Georgia"/>
              </a:defRPr>
            </a:pPr>
            <a:r>
              <a:t>02  Keyword limitations</a:t>
            </a:r>
          </a:p>
          <a:p>
            <a:pPr>
              <a:spcBef>
                <a:spcPts val="900"/>
              </a:spcBef>
              <a:defRPr sz="1250">
                <a:solidFill>
                  <a:srgbClr val="C8C8CC"/>
                </a:solidFill>
                <a:latin typeface="Aptos"/>
              </a:defRPr>
            </a:pPr>
            <a:r>
              <a:t>Exact keywords can miss related skills and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31920"/>
            <a:ext cx="5166360" cy="1737360"/>
          </a:xfrm>
          <a:prstGeom prst="roundRect">
            <a:avLst/>
          </a:prstGeom>
          <a:solidFill>
            <a:srgbClr val="1F1F24"/>
          </a:solidFill>
          <a:ln w="10160">
            <a:solidFill>
              <a:srgbClr val="3C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4114800"/>
            <a:ext cx="4764024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Georgia"/>
              </a:defRPr>
            </a:pPr>
            <a:r>
              <a:t>03  Weak explainability</a:t>
            </a:r>
          </a:p>
          <a:p>
            <a:pPr>
              <a:spcBef>
                <a:spcPts val="900"/>
              </a:spcBef>
              <a:defRPr sz="1250">
                <a:solidFill>
                  <a:srgbClr val="C8C8CC"/>
                </a:solidFill>
                <a:latin typeface="Aptos"/>
              </a:defRPr>
            </a:pPr>
            <a:r>
              <a:t>A score is less useful when the supporting resume evidence is hidden.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166360" cy="1737360"/>
          </a:xfrm>
          <a:prstGeom prst="roundRect">
            <a:avLst/>
          </a:prstGeom>
          <a:solidFill>
            <a:srgbClr val="1F1F24"/>
          </a:solidFill>
          <a:ln w="10160">
            <a:solidFill>
              <a:srgbClr val="3C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4114800"/>
            <a:ext cx="4764024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Georgia"/>
              </a:defRPr>
            </a:pPr>
            <a:r>
              <a:t>04  Uncontrolled AI output</a:t>
            </a:r>
          </a:p>
          <a:p>
            <a:pPr>
              <a:spcBef>
                <a:spcPts val="900"/>
              </a:spcBef>
              <a:defRPr sz="1250">
                <a:solidFill>
                  <a:srgbClr val="C8C8CC"/>
                </a:solidFill>
                <a:latin typeface="Aptos"/>
              </a:defRPr>
            </a:pPr>
            <a:r>
              <a:t>Generative AI needs relevant evidence to reduce unsupported responses.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4B4B4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384048"/>
            <a:ext cx="502920" cy="32004"/>
          </a:xfrm>
          <a:prstGeom prst="rect">
            <a:avLst/>
          </a:prstGeom>
          <a:solidFill>
            <a:srgbClr val="B5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5A489"/>
                </a:solidFill>
                <a:latin typeface="Aptos"/>
              </a:defRPr>
            </a:pPr>
            <a:r>
              <a:t>03  WHAT WE WANT TO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141416"/>
                </a:solidFill>
                <a:latin typeface="Georgia"/>
              </a:defRPr>
            </a:pPr>
            <a:r>
              <a:t>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33756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828800"/>
            <a:ext cx="29352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t>01  Extract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t>Read PDF/DOCX resumes and convert them into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3756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0288" y="1828800"/>
            <a:ext cx="29352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rPr dirty="0"/>
              <a:t>02  Rank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rPr dirty="0"/>
              <a:t>Generate an understandable relevance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645920"/>
            <a:ext cx="333756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93608" y="1828800"/>
            <a:ext cx="29352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t>03  Retrieve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t>Find resume evidence related to the job.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94760"/>
            <a:ext cx="333756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3977640"/>
            <a:ext cx="29352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t>04  Explain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t>Use GenAI to explain results from retrieved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794760"/>
            <a:ext cx="333756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3977640"/>
            <a:ext cx="29352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t>05  Compare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t>Show matched and missing skills for each candidate.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794760"/>
            <a:ext cx="333756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3977640"/>
            <a:ext cx="29352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t>06  Assist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t>Generate interview questions and skill-gap insights.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1908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696C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384048"/>
            <a:ext cx="502920" cy="32004"/>
          </a:xfrm>
          <a:prstGeom prst="rect">
            <a:avLst/>
          </a:prstGeom>
          <a:solidFill>
            <a:srgbClr val="B5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5A489"/>
                </a:solidFill>
                <a:latin typeface="Aptos"/>
              </a:defRPr>
            </a:pPr>
            <a:r>
              <a:t>04  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Georgia"/>
              </a:defRPr>
            </a:pPr>
            <a: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2514600" cy="1691640"/>
          </a:xfrm>
          <a:prstGeom prst="roundRect">
            <a:avLst/>
          </a:prstGeom>
          <a:solidFill>
            <a:srgbClr val="1F1F24"/>
          </a:solidFill>
          <a:ln w="10160">
            <a:solidFill>
              <a:srgbClr val="3C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828800"/>
            <a:ext cx="21122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Georgia"/>
              </a:defRPr>
            </a:pPr>
            <a:r>
              <a:t>Python</a:t>
            </a:r>
          </a:p>
          <a:p>
            <a:pPr>
              <a:spcBef>
                <a:spcPts val="900"/>
              </a:spcBef>
              <a:defRPr sz="1250">
                <a:solidFill>
                  <a:srgbClr val="C8C8CC"/>
                </a:solidFill>
                <a:latin typeface="Aptos"/>
              </a:defRPr>
            </a:pPr>
            <a:r>
              <a:t>Core application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514600" cy="1691640"/>
          </a:xfrm>
          <a:prstGeom prst="roundRect">
            <a:avLst/>
          </a:prstGeom>
          <a:solidFill>
            <a:srgbClr val="1F1F24"/>
          </a:solidFill>
          <a:ln w="10160">
            <a:solidFill>
              <a:srgbClr val="3C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75887" y="1828800"/>
            <a:ext cx="21122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Georgia"/>
              </a:defRPr>
            </a:pPr>
            <a:r>
              <a:t>Streamlit</a:t>
            </a:r>
          </a:p>
          <a:p>
            <a:pPr>
              <a:spcBef>
                <a:spcPts val="900"/>
              </a:spcBef>
              <a:defRPr sz="1250">
                <a:solidFill>
                  <a:srgbClr val="C8C8CC"/>
                </a:solidFill>
                <a:latin typeface="Aptos"/>
              </a:defRPr>
            </a:pPr>
            <a:r>
              <a:t>Web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2514600" cy="1691640"/>
          </a:xfrm>
          <a:prstGeom prst="roundRect">
            <a:avLst/>
          </a:prstGeom>
          <a:solidFill>
            <a:srgbClr val="1F1F24"/>
          </a:solidFill>
          <a:ln w="10160">
            <a:solidFill>
              <a:srgbClr val="3C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828800"/>
            <a:ext cx="21122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Georgia"/>
              </a:defRPr>
            </a:pPr>
            <a:r>
              <a:t>Pandas</a:t>
            </a:r>
          </a:p>
          <a:p>
            <a:pPr>
              <a:spcBef>
                <a:spcPts val="900"/>
              </a:spcBef>
              <a:defRPr sz="1250">
                <a:solidFill>
                  <a:srgbClr val="C8C8CC"/>
                </a:solidFill>
                <a:latin typeface="Aptos"/>
              </a:defRPr>
            </a:pPr>
            <a:r>
              <a:t>Ranking / tabular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59" y="1645920"/>
            <a:ext cx="2514600" cy="1691640"/>
          </a:xfrm>
          <a:prstGeom prst="roundRect">
            <a:avLst/>
          </a:prstGeom>
          <a:solidFill>
            <a:srgbClr val="1F1F24"/>
          </a:solidFill>
          <a:ln w="10160">
            <a:solidFill>
              <a:srgbClr val="3C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53728" y="1828800"/>
            <a:ext cx="21122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Georgia"/>
              </a:defRPr>
            </a:pPr>
            <a:r>
              <a:t>PDF / DOCX parsing</a:t>
            </a:r>
          </a:p>
          <a:p>
            <a:pPr>
              <a:spcBef>
                <a:spcPts val="900"/>
              </a:spcBef>
              <a:defRPr sz="1250">
                <a:solidFill>
                  <a:srgbClr val="C8C8CC"/>
                </a:solidFill>
                <a:latin typeface="Aptos"/>
              </a:defRPr>
            </a:pPr>
            <a:r>
              <a:t>Resume extraction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94760"/>
            <a:ext cx="2514600" cy="1691640"/>
          </a:xfrm>
          <a:prstGeom prst="roundRect">
            <a:avLst/>
          </a:prstGeom>
          <a:solidFill>
            <a:srgbClr val="1F1F24"/>
          </a:solidFill>
          <a:ln w="10160">
            <a:solidFill>
              <a:srgbClr val="3C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3977640"/>
            <a:ext cx="21122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Georgia"/>
              </a:defRPr>
            </a:pPr>
            <a:r>
              <a:t>NLP + similarity</a:t>
            </a:r>
          </a:p>
          <a:p>
            <a:pPr>
              <a:spcBef>
                <a:spcPts val="900"/>
              </a:spcBef>
              <a:defRPr sz="1250">
                <a:solidFill>
                  <a:srgbClr val="C8C8CC"/>
                </a:solidFill>
                <a:latin typeface="Aptos"/>
              </a:defRPr>
            </a:pPr>
            <a:r>
              <a:t>Candidate relevance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3794760"/>
            <a:ext cx="2514600" cy="1691640"/>
          </a:xfrm>
          <a:prstGeom prst="roundRect">
            <a:avLst/>
          </a:prstGeom>
          <a:solidFill>
            <a:srgbClr val="1F1F24"/>
          </a:solidFill>
          <a:ln w="10160">
            <a:solidFill>
              <a:srgbClr val="3C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75887" y="3977640"/>
            <a:ext cx="21122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Georgia"/>
              </a:defRPr>
            </a:pPr>
            <a:r>
              <a:t>RAG</a:t>
            </a:r>
          </a:p>
          <a:p>
            <a:pPr>
              <a:spcBef>
                <a:spcPts val="900"/>
              </a:spcBef>
              <a:defRPr sz="1250">
                <a:solidFill>
                  <a:srgbClr val="C8C8CC"/>
                </a:solidFill>
                <a:latin typeface="Aptos"/>
              </a:defRPr>
            </a:pPr>
            <a:r>
              <a:t>Evidence retrieval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94760"/>
            <a:ext cx="2514600" cy="1691640"/>
          </a:xfrm>
          <a:prstGeom prst="roundRect">
            <a:avLst/>
          </a:prstGeom>
          <a:solidFill>
            <a:srgbClr val="1F1F24"/>
          </a:solidFill>
          <a:ln w="10160">
            <a:solidFill>
              <a:srgbClr val="3C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4807" y="3977640"/>
            <a:ext cx="21122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Georgia"/>
              </a:defRPr>
            </a:pPr>
            <a:r>
              <a:t>PostgreSQL</a:t>
            </a:r>
          </a:p>
          <a:p>
            <a:pPr>
              <a:spcBef>
                <a:spcPts val="900"/>
              </a:spcBef>
              <a:defRPr sz="1250">
                <a:solidFill>
                  <a:srgbClr val="C8C8CC"/>
                </a:solidFill>
                <a:latin typeface="Aptos"/>
              </a:defRPr>
            </a:pPr>
            <a:r>
              <a:t>Persistent data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3794760"/>
            <a:ext cx="2514600" cy="1691640"/>
          </a:xfrm>
          <a:prstGeom prst="roundRect">
            <a:avLst/>
          </a:prstGeom>
          <a:solidFill>
            <a:srgbClr val="1F1F24"/>
          </a:solidFill>
          <a:ln w="10160">
            <a:solidFill>
              <a:srgbClr val="3C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53728" y="3977640"/>
            <a:ext cx="21122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Georgia"/>
              </a:defRPr>
            </a:pPr>
            <a:r>
              <a:t>Ollama + Llama 3.2</a:t>
            </a:r>
          </a:p>
          <a:p>
            <a:pPr>
              <a:spcBef>
                <a:spcPts val="900"/>
              </a:spcBef>
              <a:defRPr sz="1250">
                <a:solidFill>
                  <a:srgbClr val="C8C8CC"/>
                </a:solidFill>
                <a:latin typeface="Aptos"/>
              </a:defRPr>
            </a:pPr>
            <a:r>
              <a:t>Local Generative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1908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4B4B4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384048"/>
            <a:ext cx="502920" cy="32004"/>
          </a:xfrm>
          <a:prstGeom prst="rect">
            <a:avLst/>
          </a:prstGeom>
          <a:solidFill>
            <a:srgbClr val="B5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5A489"/>
                </a:solidFill>
                <a:latin typeface="Aptos"/>
              </a:defRPr>
            </a:pPr>
            <a:r>
              <a:t>05  RETRIEVAL-AUGMENTED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141416"/>
                </a:solidFill>
                <a:latin typeface="Georgia"/>
              </a:defRPr>
            </a:pPr>
            <a:r>
              <a:t>How RAG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51460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2011680"/>
            <a:ext cx="211226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t>01  Prepare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t>Extract resume text and split it into searchable evidence.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18687" y="2743200"/>
            <a:ext cx="502920" cy="256032"/>
          </a:xfrm>
          <a:prstGeom prst="rightArrow">
            <a:avLst/>
          </a:prstGeom>
          <a:solidFill>
            <a:srgbClr val="B5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51460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75887" y="2011680"/>
            <a:ext cx="211226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t>02  Retrieve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t>Compare the job description with candidate evidence.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53327" y="2743200"/>
            <a:ext cx="502920" cy="256032"/>
          </a:xfrm>
          <a:prstGeom prst="rightArrow">
            <a:avLst/>
          </a:prstGeom>
          <a:solidFill>
            <a:srgbClr val="B5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251460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2011680"/>
            <a:ext cx="211226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t>03  Ground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t>Pass the most relevant evidence to the AI assistant.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87968" y="2743200"/>
            <a:ext cx="502920" cy="256032"/>
          </a:xfrm>
          <a:prstGeom prst="rightArrow">
            <a:avLst/>
          </a:prstGeom>
          <a:solidFill>
            <a:srgbClr val="B5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0" y="1828800"/>
            <a:ext cx="251460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45168" y="2011680"/>
            <a:ext cx="211226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t>04  Generate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t>Create an explanation, question set or skill-gap response.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41416"/>
                </a:solidFill>
                <a:latin typeface="Aptos"/>
              </a:defRPr>
            </a:pPr>
            <a:r>
              <a:t>Why RAG?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48056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9696C"/>
                </a:solidFill>
                <a:latin typeface="Aptos"/>
              </a:defRPr>
            </a:pPr>
            <a:r>
              <a:t>The model receives evidence from the uploaded resume before generating its response. This makes the GenAI feature more grounded and easier to demonstrate.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1908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696C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384048"/>
            <a:ext cx="502920" cy="32004"/>
          </a:xfrm>
          <a:prstGeom prst="rect">
            <a:avLst/>
          </a:prstGeom>
          <a:solidFill>
            <a:srgbClr val="B5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5A489"/>
                </a:solidFill>
                <a:latin typeface="Aptos"/>
              </a:defRPr>
            </a:pPr>
            <a:r>
              <a:t>06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0">
                <a:solidFill>
                  <a:srgbClr val="141416"/>
                </a:solidFill>
                <a:latin typeface="Georgia"/>
              </a:defRPr>
            </a:pPr>
            <a:r>
              <a:t>SmartScreen Project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28800"/>
            <a:ext cx="1664208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1938528"/>
            <a:ext cx="14813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41416"/>
                </a:solidFill>
                <a:latin typeface="Georgia"/>
              </a:defRPr>
            </a:pPr>
            <a:r>
              <a:t>01 INPUT</a:t>
            </a:r>
          </a:p>
          <a:p>
            <a:pPr algn="ctr">
              <a:spcBef>
                <a:spcPts val="300"/>
              </a:spcBef>
              <a:defRPr sz="900">
                <a:solidFill>
                  <a:srgbClr val="69696C"/>
                </a:solidFill>
                <a:latin typeface="Aptos"/>
              </a:defRPr>
            </a:pPr>
            <a:r>
              <a:t>Job description</a:t>
            </a:r>
            <a:br/>
            <a:r>
              <a:t>+ resumes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84248" y="2263140"/>
            <a:ext cx="228600" cy="0"/>
          </a:xfrm>
          <a:prstGeom prst="line">
            <a:avLst/>
          </a:prstGeom>
          <a:ln w="19050">
            <a:solidFill>
              <a:srgbClr val="B5A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40280" y="1828800"/>
            <a:ext cx="1664208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31720" y="1938528"/>
            <a:ext cx="14813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41416"/>
                </a:solidFill>
                <a:latin typeface="Georgia"/>
              </a:defRPr>
            </a:pPr>
            <a:r>
              <a:t>02 PARSE</a:t>
            </a:r>
          </a:p>
          <a:p>
            <a:pPr algn="ctr">
              <a:spcBef>
                <a:spcPts val="300"/>
              </a:spcBef>
              <a:defRPr sz="900">
                <a:solidFill>
                  <a:srgbClr val="69696C"/>
                </a:solidFill>
                <a:latin typeface="Aptos"/>
              </a:defRPr>
            </a:pPr>
            <a:r>
              <a:t>PDF / DOCX</a:t>
            </a:r>
            <a:br/>
            <a:r>
              <a:t>text extraction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04488" y="2263140"/>
            <a:ext cx="228599" cy="0"/>
          </a:xfrm>
          <a:prstGeom prst="line">
            <a:avLst/>
          </a:prstGeom>
          <a:ln w="19050">
            <a:solidFill>
              <a:srgbClr val="B5A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60520" y="1828800"/>
            <a:ext cx="1664208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59" y="1938528"/>
            <a:ext cx="14813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41416"/>
                </a:solidFill>
                <a:latin typeface="Georgia"/>
              </a:defRPr>
            </a:pPr>
            <a:r>
              <a:t>03 ANALYZE</a:t>
            </a:r>
          </a:p>
          <a:p>
            <a:pPr algn="ctr">
              <a:spcBef>
                <a:spcPts val="300"/>
              </a:spcBef>
              <a:defRPr sz="900">
                <a:solidFill>
                  <a:srgbClr val="69696C"/>
                </a:solidFill>
                <a:latin typeface="Aptos"/>
              </a:defRPr>
            </a:pPr>
            <a:r>
              <a:t>Skills + experience</a:t>
            </a:r>
            <a:br/>
            <a:r>
              <a:t>+ similarity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24728" y="2263140"/>
            <a:ext cx="228600" cy="0"/>
          </a:xfrm>
          <a:prstGeom prst="line">
            <a:avLst/>
          </a:prstGeom>
          <a:ln w="19050">
            <a:solidFill>
              <a:srgbClr val="B5A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80760" y="1828800"/>
            <a:ext cx="1664208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1938528"/>
            <a:ext cx="14813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41416"/>
                </a:solidFill>
                <a:latin typeface="Georgia"/>
              </a:defRPr>
            </a:pPr>
            <a:r>
              <a:t>04 RANK</a:t>
            </a:r>
          </a:p>
          <a:p>
            <a:pPr algn="ctr">
              <a:spcBef>
                <a:spcPts val="300"/>
              </a:spcBef>
              <a:defRPr sz="900">
                <a:solidFill>
                  <a:srgbClr val="69696C"/>
                </a:solidFill>
                <a:latin typeface="Aptos"/>
              </a:defRPr>
            </a:pPr>
            <a:r>
              <a:t>Score + matched /</a:t>
            </a:r>
            <a:br/>
            <a:r>
              <a:t>missing skills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44968" y="2263140"/>
            <a:ext cx="228600" cy="0"/>
          </a:xfrm>
          <a:prstGeom prst="line">
            <a:avLst/>
          </a:prstGeom>
          <a:ln w="19050">
            <a:solidFill>
              <a:srgbClr val="B5A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01000" y="1828800"/>
            <a:ext cx="1664208" cy="868680"/>
          </a:xfrm>
          <a:prstGeom prst="roundRect">
            <a:avLst/>
          </a:prstGeom>
          <a:solidFill>
            <a:srgbClr val="EEEBE4"/>
          </a:solidFill>
          <a:ln w="10160">
            <a:solidFill>
              <a:srgbClr val="D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92440" y="1938528"/>
            <a:ext cx="14813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41416"/>
                </a:solidFill>
                <a:latin typeface="Georgia"/>
              </a:defRPr>
            </a:pPr>
            <a:r>
              <a:t>05 RAG</a:t>
            </a:r>
          </a:p>
          <a:p>
            <a:pPr algn="ctr">
              <a:spcBef>
                <a:spcPts val="300"/>
              </a:spcBef>
              <a:defRPr sz="900">
                <a:solidFill>
                  <a:srgbClr val="69696C"/>
                </a:solidFill>
                <a:latin typeface="Aptos"/>
              </a:defRPr>
            </a:pPr>
            <a:r>
              <a:t>Retrieve relevant</a:t>
            </a:r>
            <a:br/>
            <a:r>
              <a:t>resume evidence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65208" y="2263140"/>
            <a:ext cx="228600" cy="0"/>
          </a:xfrm>
          <a:prstGeom prst="line">
            <a:avLst/>
          </a:prstGeom>
          <a:ln w="19050">
            <a:solidFill>
              <a:srgbClr val="B5A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921240" y="1828800"/>
            <a:ext cx="1664208" cy="868680"/>
          </a:xfrm>
          <a:prstGeom prst="roundRect">
            <a:avLst/>
          </a:prstGeom>
          <a:solidFill>
            <a:srgbClr val="EEEBE4"/>
          </a:solidFill>
          <a:ln w="10160">
            <a:solidFill>
              <a:srgbClr val="D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12680" y="1938528"/>
            <a:ext cx="14813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41416"/>
                </a:solidFill>
                <a:latin typeface="Georgia"/>
              </a:defRPr>
            </a:pPr>
            <a:r>
              <a:t>06 GENAI</a:t>
            </a:r>
          </a:p>
          <a:p>
            <a:pPr algn="ctr">
              <a:spcBef>
                <a:spcPts val="300"/>
              </a:spcBef>
              <a:defRPr sz="900">
                <a:solidFill>
                  <a:srgbClr val="69696C"/>
                </a:solidFill>
                <a:latin typeface="Aptos"/>
              </a:defRPr>
            </a:pPr>
            <a:r>
              <a:t>Analysis • questions</a:t>
            </a:r>
            <a:br/>
            <a:r>
              <a:t>• skill gaps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246120"/>
            <a:ext cx="338328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355848"/>
            <a:ext cx="3200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41416"/>
                </a:solidFill>
                <a:latin typeface="Georgia"/>
              </a:defRPr>
            </a:pPr>
            <a:r>
              <a:t>RAG EVIDENCE</a:t>
            </a:r>
          </a:p>
          <a:p>
            <a:pPr algn="ctr">
              <a:spcBef>
                <a:spcPts val="300"/>
              </a:spcBef>
              <a:defRPr sz="900">
                <a:solidFill>
                  <a:srgbClr val="69696C"/>
                </a:solidFill>
                <a:latin typeface="Aptos"/>
              </a:defRPr>
            </a:pPr>
            <a:r>
              <a:t>Relevant resume passages become grounded context for AI.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3246120"/>
            <a:ext cx="338328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98848" y="3355848"/>
            <a:ext cx="3200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41416"/>
                </a:solidFill>
                <a:latin typeface="Georgia"/>
              </a:defRPr>
            </a:pPr>
            <a:r>
              <a:t>AI-ASSISTED INSIGHTS</a:t>
            </a:r>
          </a:p>
          <a:p>
            <a:pPr algn="ctr">
              <a:spcBef>
                <a:spcPts val="300"/>
              </a:spcBef>
              <a:defRPr sz="900">
                <a:solidFill>
                  <a:srgbClr val="69696C"/>
                </a:solidFill>
                <a:latin typeface="Aptos"/>
              </a:defRPr>
            </a:pPr>
            <a:r>
              <a:t>Candidate analysis • ranking explanation • interview questions • skill gaps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9016" y="3246120"/>
            <a:ext cx="3383280" cy="1024128"/>
          </a:xfrm>
          <a:prstGeom prst="roundRect">
            <a:avLst/>
          </a:prstGeom>
          <a:solidFill>
            <a:srgbClr val="1F1F24"/>
          </a:solidFill>
          <a:ln w="10160">
            <a:solidFill>
              <a:srgbClr val="D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0456" y="3355848"/>
            <a:ext cx="3200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Georgia"/>
              </a:defRPr>
            </a:pPr>
            <a:r>
              <a:t>HUMAN REVIEW</a:t>
            </a:r>
          </a:p>
          <a:p>
            <a:pPr algn="ctr">
              <a:spcBef>
                <a:spcPts val="300"/>
              </a:spcBef>
              <a:defRPr sz="900">
                <a:solidFill>
                  <a:srgbClr val="D2D2D6"/>
                </a:solidFill>
                <a:latin typeface="Aptos"/>
              </a:defRPr>
            </a:pPr>
            <a:r>
              <a:t>Recruiter reviews evidence, ranking and AI insights before deciding.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2377440" y="2697480"/>
            <a:ext cx="6455664" cy="521208"/>
          </a:xfrm>
          <a:prstGeom prst="line">
            <a:avLst/>
          </a:prstGeom>
          <a:ln w="19050">
            <a:solidFill>
              <a:srgbClr val="B5A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6080760" y="2697480"/>
            <a:ext cx="4672584" cy="521208"/>
          </a:xfrm>
          <a:prstGeom prst="line">
            <a:avLst/>
          </a:prstGeom>
          <a:ln w="19050">
            <a:solidFill>
              <a:srgbClr val="B5A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n 29"/>
          <p:cNvSpPr/>
          <p:nvPr/>
        </p:nvSpPr>
        <p:spPr>
          <a:xfrm>
            <a:off x="4434840" y="4754880"/>
            <a:ext cx="3337560" cy="822960"/>
          </a:xfrm>
          <a:prstGeom prst="can">
            <a:avLst/>
          </a:prstGeom>
          <a:solidFill>
            <a:srgbClr val="EEEBE4"/>
          </a:solidFill>
          <a:ln>
            <a:solidFill>
              <a:srgbClr val="DE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17720" y="4956048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141416"/>
                </a:solidFill>
                <a:latin typeface="Georgia"/>
              </a:defRPr>
            </a:pPr>
            <a:r>
              <a:t>PostgreSQL  •  Persistent Data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6099048" y="2697480"/>
            <a:ext cx="813816" cy="2039112"/>
          </a:xfrm>
          <a:prstGeom prst="line">
            <a:avLst/>
          </a:prstGeom>
          <a:ln w="19050">
            <a:solidFill>
              <a:srgbClr val="B5A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9696C"/>
                </a:solidFill>
                <a:latin typeface="Aptos"/>
              </a:defRPr>
            </a:pPr>
            <a:r>
              <a:t>Rank candidates → retrieve evidence → generate grounded insights → keep the final hiring decision with a human.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14946" y="6419088"/>
            <a:ext cx="30649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696C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384048"/>
            <a:ext cx="502920" cy="32004"/>
          </a:xfrm>
          <a:prstGeom prst="rect">
            <a:avLst/>
          </a:prstGeom>
          <a:solidFill>
            <a:srgbClr val="B5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69790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5A489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7</a:t>
            </a:r>
            <a:r>
              <a:rPr dirty="0"/>
              <a:t>  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Georgia"/>
              </a:defRPr>
            </a:pPr>
            <a:r>
              <a:t>System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057400"/>
            <a:ext cx="1691640" cy="1417320"/>
          </a:xfrm>
          <a:prstGeom prst="roundRect">
            <a:avLst/>
          </a:prstGeom>
          <a:solidFill>
            <a:srgbClr val="1F1F24"/>
          </a:solidFill>
          <a:ln w="10160">
            <a:solidFill>
              <a:srgbClr val="3C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2240280"/>
            <a:ext cx="1289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Georgia"/>
              </a:defRPr>
            </a:pPr>
            <a:r>
              <a:t>Job Description</a:t>
            </a:r>
          </a:p>
          <a:p>
            <a:pPr>
              <a:spcBef>
                <a:spcPts val="900"/>
              </a:spcBef>
              <a:defRPr sz="1250">
                <a:solidFill>
                  <a:srgbClr val="C8C8CC"/>
                </a:solidFill>
                <a:latin typeface="Aptos"/>
              </a:defRPr>
            </a:pPr>
            <a:r>
              <a:t>Step 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30552" y="2651760"/>
            <a:ext cx="502920" cy="256032"/>
          </a:xfrm>
          <a:prstGeom prst="rightArrow">
            <a:avLst/>
          </a:prstGeom>
          <a:solidFill>
            <a:srgbClr val="B5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350008" y="2057400"/>
            <a:ext cx="1691640" cy="1417320"/>
          </a:xfrm>
          <a:prstGeom prst="roundRect">
            <a:avLst/>
          </a:prstGeom>
          <a:solidFill>
            <a:srgbClr val="1F1F24"/>
          </a:solidFill>
          <a:ln w="10160">
            <a:solidFill>
              <a:srgbClr val="3C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51176" y="2240280"/>
            <a:ext cx="1289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Georgia"/>
              </a:defRPr>
            </a:pPr>
            <a:r>
              <a:t>Resume Upload</a:t>
            </a:r>
          </a:p>
          <a:p>
            <a:pPr>
              <a:spcBef>
                <a:spcPts val="900"/>
              </a:spcBef>
              <a:defRPr sz="1250">
                <a:solidFill>
                  <a:srgbClr val="C8C8CC"/>
                </a:solidFill>
                <a:latin typeface="Aptos"/>
              </a:defRPr>
            </a:pPr>
            <a:r>
              <a:t>Step 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2651760"/>
            <a:ext cx="502920" cy="256032"/>
          </a:xfrm>
          <a:prstGeom prst="rightArrow">
            <a:avLst/>
          </a:prstGeom>
          <a:solidFill>
            <a:srgbClr val="B5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88536" y="2057400"/>
            <a:ext cx="1691640" cy="1417320"/>
          </a:xfrm>
          <a:prstGeom prst="roundRect">
            <a:avLst/>
          </a:prstGeom>
          <a:solidFill>
            <a:srgbClr val="1F1F24"/>
          </a:solidFill>
          <a:ln w="10160">
            <a:solidFill>
              <a:srgbClr val="3C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2240280"/>
            <a:ext cx="1289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Georgia"/>
              </a:defRPr>
            </a:pPr>
            <a:r>
              <a:t>Text Extraction</a:t>
            </a:r>
          </a:p>
          <a:p>
            <a:pPr>
              <a:spcBef>
                <a:spcPts val="900"/>
              </a:spcBef>
              <a:defRPr sz="1250">
                <a:solidFill>
                  <a:srgbClr val="C8C8CC"/>
                </a:solidFill>
                <a:latin typeface="Aptos"/>
              </a:defRPr>
            </a:pPr>
            <a:r>
              <a:t>Step 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07608" y="2651760"/>
            <a:ext cx="502920" cy="256032"/>
          </a:xfrm>
          <a:prstGeom prst="rightArrow">
            <a:avLst/>
          </a:prstGeom>
          <a:solidFill>
            <a:srgbClr val="B5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27064" y="2057400"/>
            <a:ext cx="1691640" cy="1417320"/>
          </a:xfrm>
          <a:prstGeom prst="roundRect">
            <a:avLst/>
          </a:prstGeom>
          <a:solidFill>
            <a:srgbClr val="1F1F24"/>
          </a:solidFill>
          <a:ln w="10160">
            <a:solidFill>
              <a:srgbClr val="3C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240280"/>
            <a:ext cx="1289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Georgia"/>
              </a:defRPr>
            </a:pPr>
            <a:r>
              <a:t>Ranking</a:t>
            </a:r>
          </a:p>
          <a:p>
            <a:pPr>
              <a:spcBef>
                <a:spcPts val="900"/>
              </a:spcBef>
              <a:defRPr sz="1250">
                <a:solidFill>
                  <a:srgbClr val="C8C8CC"/>
                </a:solidFill>
                <a:latin typeface="Aptos"/>
              </a:defRPr>
            </a:pPr>
            <a:r>
              <a:t>Step 4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46136" y="2651760"/>
            <a:ext cx="502920" cy="256032"/>
          </a:xfrm>
          <a:prstGeom prst="rightArrow">
            <a:avLst/>
          </a:prstGeom>
          <a:solidFill>
            <a:srgbClr val="B5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65592" y="2057400"/>
            <a:ext cx="1691640" cy="1417320"/>
          </a:xfrm>
          <a:prstGeom prst="roundRect">
            <a:avLst/>
          </a:prstGeom>
          <a:solidFill>
            <a:srgbClr val="1F1F24"/>
          </a:solidFill>
          <a:ln w="10160">
            <a:solidFill>
              <a:srgbClr val="3C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2240280"/>
            <a:ext cx="1289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Georgia"/>
              </a:defRPr>
            </a:pPr>
            <a:r>
              <a:t>RAG Retrieval</a:t>
            </a:r>
          </a:p>
          <a:p>
            <a:pPr>
              <a:spcBef>
                <a:spcPts val="900"/>
              </a:spcBef>
              <a:defRPr sz="1250">
                <a:solidFill>
                  <a:srgbClr val="C8C8CC"/>
                </a:solidFill>
                <a:latin typeface="Aptos"/>
              </a:defRPr>
            </a:pPr>
            <a:r>
              <a:t>Step 5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884663" y="2651760"/>
            <a:ext cx="502920" cy="256032"/>
          </a:xfrm>
          <a:prstGeom prst="rightArrow">
            <a:avLst/>
          </a:prstGeom>
          <a:solidFill>
            <a:srgbClr val="B5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104120" y="2057400"/>
            <a:ext cx="1691640" cy="1417320"/>
          </a:xfrm>
          <a:prstGeom prst="roundRect">
            <a:avLst/>
          </a:prstGeom>
          <a:solidFill>
            <a:srgbClr val="1F1F24"/>
          </a:solidFill>
          <a:ln w="10160">
            <a:solidFill>
              <a:srgbClr val="3C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05288" y="2240280"/>
            <a:ext cx="1289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Georgia"/>
              </a:defRPr>
            </a:pPr>
            <a:r>
              <a:t>GenAI</a:t>
            </a:r>
          </a:p>
          <a:p>
            <a:pPr>
              <a:spcBef>
                <a:spcPts val="900"/>
              </a:spcBef>
              <a:defRPr sz="1250">
                <a:solidFill>
                  <a:srgbClr val="C8C8CC"/>
                </a:solidFill>
                <a:latin typeface="Aptos"/>
              </a:defRPr>
            </a:pPr>
            <a:r>
              <a:t>Step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72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Human review remains the final decision point.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034" y="50749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BEBEC3"/>
                </a:solidFill>
                <a:latin typeface="Aptos"/>
              </a:defRPr>
            </a:pPr>
            <a:r>
              <a:t>The system supports screening; it does not automatically decide who should be hired.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14945" y="6419088"/>
            <a:ext cx="30649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4B4B4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8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384048"/>
            <a:ext cx="502920" cy="32004"/>
          </a:xfrm>
          <a:prstGeom prst="rect">
            <a:avLst/>
          </a:prstGeom>
          <a:solidFill>
            <a:srgbClr val="B5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91270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5A489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8</a:t>
            </a:r>
            <a:r>
              <a:rPr dirty="0"/>
              <a:t>  APPLICATION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141416"/>
                </a:solidFill>
                <a:latin typeface="Georgia"/>
              </a:defRPr>
            </a:pPr>
            <a:r>
              <a:t>Project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6636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828800"/>
            <a:ext cx="476402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t>Resume Parser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t>PDF/DOCX → clean resume 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6636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19088" y="1828800"/>
            <a:ext cx="476402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t>Analyzer / Ranking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t>Skills + experience + relevance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71800"/>
            <a:ext cx="516636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3154680"/>
            <a:ext cx="476402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t>RAG Module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t>Searchable resume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71800"/>
            <a:ext cx="516636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3154680"/>
            <a:ext cx="476402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t>GenAI Assistant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t>Analysis, ranking explanation, questions, skill gaps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297680"/>
            <a:ext cx="516636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4480560"/>
            <a:ext cx="476402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t>Streamlit UI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t>Inputs, uploads, results and AI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97680"/>
            <a:ext cx="516636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4480560"/>
            <a:ext cx="476402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t>Exporter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t>Candidate ranking → Excel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623559"/>
            <a:ext cx="516636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5806440"/>
            <a:ext cx="476402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t>Database Layer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t>Persistent project data with 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14945" y="6419088"/>
            <a:ext cx="30649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696C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9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384048"/>
            <a:ext cx="502920" cy="32004"/>
          </a:xfrm>
          <a:prstGeom prst="rect">
            <a:avLst/>
          </a:prstGeom>
          <a:solidFill>
            <a:srgbClr val="B5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209544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5A489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9</a:t>
            </a:r>
            <a:r>
              <a:rPr dirty="0"/>
              <a:t>  DEVELOPMENT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Georgia"/>
              </a:defRPr>
            </a:pPr>
            <a:r>
              <a:t>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5A48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73352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Different resume layouts make text extraction inconsistent.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5A48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386584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Skill names can vary, so exact keyword matching is not always enough.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1810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5A48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099816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Ranking should be understandable instead of a black box.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31335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5A48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81304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RAG evidence must be relevant to the specific candidate.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4456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5A48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52628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Local LLM availability can affect the GenAI features.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578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5A48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239512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The system must remain simple enough for a BTech-level demonstration.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14945" y="6419088"/>
            <a:ext cx="30649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4B4B4"/>
                </a:solidFill>
                <a:latin typeface="Aptos"/>
              </a:defRPr>
            </a:pPr>
            <a:r>
              <a:rPr lang="en-US" dirty="0"/>
              <a:t>10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384048"/>
            <a:ext cx="502920" cy="32004"/>
          </a:xfrm>
          <a:prstGeom prst="rect">
            <a:avLst/>
          </a:prstGeom>
          <a:solidFill>
            <a:srgbClr val="B5A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2784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5A489"/>
                </a:solidFill>
                <a:latin typeface="Aptos"/>
              </a:defRPr>
            </a:pPr>
            <a:r>
              <a:rPr lang="en-US" dirty="0"/>
              <a:t>10</a:t>
            </a:r>
            <a:r>
              <a:rPr dirty="0"/>
              <a:t> 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141416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6400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700" b="0">
                <a:solidFill>
                  <a:srgbClr val="141416"/>
                </a:solidFill>
                <a:latin typeface="Aptos"/>
              </a:defRPr>
            </a:pPr>
            <a:r>
              <a:t>SmartScreen combines candidate ranking with evidence retrieval and Generative AI assistance in one practical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691640"/>
            <a:ext cx="38404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99248" y="1874520"/>
            <a:ext cx="34381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t>01  What it demonstrates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t>NLP + explainable scoring + RAG + GenAI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3383280"/>
            <a:ext cx="38404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99248" y="3566160"/>
            <a:ext cx="34381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t>02  What makes it useful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t>Evidence-backed candidate comparison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5074920"/>
            <a:ext cx="38404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99248" y="5257800"/>
            <a:ext cx="34381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41416"/>
                </a:solidFill>
                <a:latin typeface="Georgia"/>
              </a:defRPr>
            </a:pPr>
            <a:r>
              <a:t>03  Next steps</a:t>
            </a:r>
          </a:p>
          <a:p>
            <a:pPr>
              <a:spcBef>
                <a:spcPts val="900"/>
              </a:spcBef>
              <a:defRPr sz="1250">
                <a:solidFill>
                  <a:srgbClr val="69696C"/>
                </a:solidFill>
                <a:latin typeface="Aptos"/>
              </a:defRPr>
            </a:pPr>
            <a:r>
              <a:t>Better embeddings, evaluation and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B5A489"/>
                </a:solidFill>
                <a:latin typeface="Aptos"/>
              </a:defRPr>
            </a:pPr>
            <a:r>
              <a:t>Final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43400"/>
            <a:ext cx="6126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69696C"/>
                </a:solidFill>
                <a:latin typeface="Aptos"/>
              </a:defRPr>
            </a:pPr>
            <a:r>
              <a:t>The project is designed to assist human screening — not make the final hiring decision automatically.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14945" y="6419088"/>
            <a:ext cx="30649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696C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736</Words>
  <Application>Microsoft Office PowerPoint</Application>
  <PresentationFormat>Widescreen</PresentationFormat>
  <Paragraphs>160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kan aayush</cp:lastModifiedBy>
  <cp:revision>6</cp:revision>
  <dcterms:created xsi:type="dcterms:W3CDTF">2013-01-27T09:14:16Z</dcterms:created>
  <dcterms:modified xsi:type="dcterms:W3CDTF">2026-08-12T12:07:55Z</dcterms:modified>
  <cp:category/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